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5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github.com/dhairya2006-del/Stock-price-analyze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ackground_177635307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A162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02736" y="294838"/>
            <a:ext cx="10058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ts val="7200"/>
              </a:lnSpc>
              <a:defRPr sz="6000" b="1">
                <a:solidFill>
                  <a:srgbClr val="E8E8E8"/>
                </a:solidFill>
                <a:latin typeface="Calibri"/>
              </a:defRPr>
            </a:pPr>
            <a:r>
              <a:rPr lang="en-IN" dirty="0"/>
              <a:t>Stock Price Analyzer using heaps and stacks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419937" y="2275165"/>
            <a:ext cx="3017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7412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CCCCCC"/>
                </a:solidFill>
                <a:latin typeface="Calibri"/>
              </a:defRPr>
            </a:pPr>
            <a:r>
              <a:rPr sz="2400" b="0">
                <a:solidFill>
                  <a:srgbClr val="CCCCCC"/>
                </a:solidFill>
                <a:latin typeface="Calibri"/>
              </a:rPr>
              <a:t>Real-Time Stock Price Analyzer Using Heap and Stack
(Integrated with Machine Learning for Prediction)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050026" y="3523951"/>
            <a:ext cx="10058400" cy="410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rPr lang="en-US" sz="4000" b="1" dirty="0">
                <a:solidFill>
                  <a:schemeClr val="accent6"/>
                </a:solidFill>
              </a:rPr>
              <a:t>Team Members</a:t>
            </a:r>
            <a:endParaRPr sz="4000" b="1" dirty="0">
              <a:solidFill>
                <a:schemeClr val="accent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4004F4-BF3D-D0E6-ACE0-AE547E327100}"/>
              </a:ext>
            </a:extLst>
          </p:cNvPr>
          <p:cNvSpPr txBox="1"/>
          <p:nvPr/>
        </p:nvSpPr>
        <p:spPr>
          <a:xfrm>
            <a:off x="14748" y="4201710"/>
            <a:ext cx="59288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solidFill>
                <a:schemeClr val="bg2"/>
              </a:solidFill>
            </a:endParaRP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Dhairya Joshi(B24ME1024)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Utkarsh Bansal(B24ES1009)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Anurag Pawar(B24MT1007)</a:t>
            </a:r>
          </a:p>
          <a:p>
            <a:pPr algn="ctr"/>
            <a:r>
              <a:rPr lang="en-US" sz="2400" dirty="0">
                <a:solidFill>
                  <a:schemeClr val="bg2"/>
                </a:solidFill>
              </a:rPr>
              <a:t>Shankar Suthar(B24PH1023)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97261-7FE3-0251-4AD8-B369A9A5FA63}"/>
              </a:ext>
            </a:extLst>
          </p:cNvPr>
          <p:cNvSpPr txBox="1"/>
          <p:nvPr/>
        </p:nvSpPr>
        <p:spPr>
          <a:xfrm>
            <a:off x="7123623" y="4469026"/>
            <a:ext cx="4719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accent6"/>
                </a:solidFill>
              </a:rPr>
              <a:t>Github</a:t>
            </a:r>
            <a:r>
              <a:rPr lang="en-US" sz="4000" b="1" dirty="0">
                <a:solidFill>
                  <a:schemeClr val="accent6"/>
                </a:solidFill>
              </a:rPr>
              <a:t> Link</a:t>
            </a:r>
            <a:endParaRPr lang="en-IN" sz="4000" b="1" dirty="0">
              <a:solidFill>
                <a:schemeClr val="accent6"/>
              </a:solidFill>
            </a:endParaRPr>
          </a:p>
        </p:txBody>
      </p:sp>
      <p:sp>
        <p:nvSpPr>
          <p:cNvPr id="10" name="TextBox 9">
            <a:hlinkClick r:id="rId3"/>
            <a:extLst>
              <a:ext uri="{FF2B5EF4-FFF2-40B4-BE49-F238E27FC236}">
                <a16:creationId xmlns:a16="http://schemas.microsoft.com/office/drawing/2014/main" id="{68C58528-FDF7-DE52-0D19-B14FF2ADF343}"/>
              </a:ext>
            </a:extLst>
          </p:cNvPr>
          <p:cNvSpPr txBox="1"/>
          <p:nvPr/>
        </p:nvSpPr>
        <p:spPr>
          <a:xfrm>
            <a:off x="6031936" y="5211558"/>
            <a:ext cx="5928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hlinkClick r:id="rId3"/>
              </a:rPr>
              <a:t>https://github.com/dhairya2006-del/Stock-price-analyzer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rPr dirty="0"/>
              <a:t>Presentation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000"/>
              </a:spcAft>
            </a:pPr>
            <a:r>
              <a:rPr sz="2000" b="1" dirty="0">
                <a:solidFill>
                  <a:srgbClr val="00D4FF"/>
                </a:solidFill>
                <a:latin typeface="Calibri"/>
              </a:rPr>
              <a:t>▸  Introduction — Challenges in Stock Price Analysis</a:t>
            </a:r>
          </a:p>
          <a:p>
            <a:pPr>
              <a:lnSpc>
                <a:spcPts val="3200"/>
              </a:lnSpc>
              <a:spcAft>
                <a:spcPts val="1000"/>
              </a:spcAft>
            </a:pPr>
            <a:r>
              <a:rPr sz="2000" b="1" dirty="0">
                <a:solidFill>
                  <a:srgbClr val="00D4FF"/>
                </a:solidFill>
                <a:latin typeface="Calibri"/>
              </a:rPr>
              <a:t>▸  Key Financial Problems (Span, NGE, Profit)</a:t>
            </a:r>
          </a:p>
          <a:p>
            <a:pPr>
              <a:lnSpc>
                <a:spcPts val="3200"/>
              </a:lnSpc>
              <a:spcAft>
                <a:spcPts val="1000"/>
              </a:spcAft>
            </a:pPr>
            <a:r>
              <a:rPr sz="2000" b="1" dirty="0">
                <a:solidFill>
                  <a:srgbClr val="00D4FF"/>
                </a:solidFill>
                <a:latin typeface="Calibri"/>
              </a:rPr>
              <a:t>▸  System Architecture &amp; Data Pipeline</a:t>
            </a:r>
          </a:p>
          <a:p>
            <a:pPr>
              <a:lnSpc>
                <a:spcPts val="3200"/>
              </a:lnSpc>
              <a:spcAft>
                <a:spcPts val="1000"/>
              </a:spcAft>
            </a:pPr>
            <a:r>
              <a:rPr sz="2000" b="1" dirty="0">
                <a:solidFill>
                  <a:srgbClr val="00D4FF"/>
                </a:solidFill>
                <a:latin typeface="Calibri"/>
              </a:rPr>
              <a:t>▸  DSA-Based Feature Engineering (Heap, Stack)</a:t>
            </a:r>
          </a:p>
          <a:p>
            <a:pPr>
              <a:lnSpc>
                <a:spcPts val="3200"/>
              </a:lnSpc>
              <a:spcAft>
                <a:spcPts val="1000"/>
              </a:spcAft>
            </a:pPr>
            <a:r>
              <a:rPr sz="2000" b="1" dirty="0">
                <a:solidFill>
                  <a:srgbClr val="00D4FF"/>
                </a:solidFill>
                <a:latin typeface="Calibri"/>
              </a:rPr>
              <a:t>▸  Machine Learning Models</a:t>
            </a:r>
          </a:p>
          <a:p>
            <a:pPr>
              <a:lnSpc>
                <a:spcPts val="3200"/>
              </a:lnSpc>
              <a:spcAft>
                <a:spcPts val="1000"/>
              </a:spcAft>
            </a:pPr>
            <a:r>
              <a:rPr sz="2000" b="1" dirty="0">
                <a:solidFill>
                  <a:srgbClr val="00D4FF"/>
                </a:solidFill>
                <a:latin typeface="Calibri"/>
              </a:rPr>
              <a:t>▸  Model Evaluation (MAE Comparison)</a:t>
            </a:r>
          </a:p>
          <a:p>
            <a:pPr>
              <a:lnSpc>
                <a:spcPts val="3200"/>
              </a:lnSpc>
              <a:spcAft>
                <a:spcPts val="1000"/>
              </a:spcAft>
            </a:pPr>
            <a:r>
              <a:rPr sz="2000" b="1" dirty="0">
                <a:solidFill>
                  <a:srgbClr val="00D4FF"/>
                </a:solidFill>
                <a:latin typeface="Calibri"/>
              </a:rPr>
              <a:t>▸  Dashboard &amp; Visualization</a:t>
            </a:r>
          </a:p>
          <a:p>
            <a:pPr>
              <a:lnSpc>
                <a:spcPts val="3200"/>
              </a:lnSpc>
              <a:spcAft>
                <a:spcPts val="1000"/>
              </a:spcAft>
            </a:pPr>
            <a:r>
              <a:rPr sz="2000" b="1" dirty="0">
                <a:solidFill>
                  <a:srgbClr val="00D4FF"/>
                </a:solidFill>
                <a:latin typeface="Calibri"/>
              </a:rPr>
              <a:t>▸  Key Insights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The Problem — Why AI in Finance?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The need for intelligent financial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20"/>
              </a:lnSpc>
              <a:spcAft>
                <a:spcPts val="800"/>
              </a:spcAft>
            </a:pPr>
            <a:r>
              <a:rPr sz="1600" b="1">
                <a:solidFill>
                  <a:srgbClr val="FF4757"/>
                </a:solidFill>
                <a:latin typeface="Calibri"/>
              </a:rPr>
              <a:t>▸  </a:t>
            </a:r>
            <a:r>
              <a:rPr sz="1600">
                <a:solidFill>
                  <a:srgbClr val="E8E8E8"/>
                </a:solidFill>
                <a:latin typeface="Calibri"/>
              </a:rPr>
              <a:t>Stock markets are inherently volatile — prices change every second</a:t>
            </a:r>
          </a:p>
          <a:p>
            <a:pPr>
              <a:lnSpc>
                <a:spcPts val="2720"/>
              </a:lnSpc>
              <a:spcAft>
                <a:spcPts val="800"/>
              </a:spcAft>
            </a:pPr>
            <a:r>
              <a:rPr sz="1600" b="1">
                <a:solidFill>
                  <a:srgbClr val="FF4757"/>
                </a:solidFill>
                <a:latin typeface="Calibri"/>
              </a:rPr>
              <a:t>▸  </a:t>
            </a:r>
            <a:r>
              <a:rPr sz="1600">
                <a:solidFill>
                  <a:srgbClr val="E8E8E8"/>
                </a:solidFill>
                <a:latin typeface="Calibri"/>
              </a:rPr>
              <a:t>Traditional technical analysis relies on human intuition and manual charting</a:t>
            </a:r>
          </a:p>
          <a:p>
            <a:pPr>
              <a:lnSpc>
                <a:spcPts val="2720"/>
              </a:lnSpc>
              <a:spcAft>
                <a:spcPts val="800"/>
              </a:spcAft>
            </a:pPr>
            <a:r>
              <a:rPr sz="1600" b="1">
                <a:solidFill>
                  <a:srgbClr val="FF4757"/>
                </a:solidFill>
                <a:latin typeface="Calibri"/>
              </a:rPr>
              <a:t>▸  </a:t>
            </a:r>
            <a:r>
              <a:rPr sz="1600">
                <a:solidFill>
                  <a:srgbClr val="E8E8E8"/>
                </a:solidFill>
                <a:latin typeface="Calibri"/>
              </a:rPr>
              <a:t>Billions of dollars are lost annually due to poorly timed trades</a:t>
            </a:r>
          </a:p>
          <a:p>
            <a:pPr>
              <a:lnSpc>
                <a:spcPts val="2720"/>
              </a:lnSpc>
              <a:spcAft>
                <a:spcPts val="800"/>
              </a:spcAft>
            </a:pPr>
            <a:r>
              <a:rPr sz="1600" b="1">
                <a:solidFill>
                  <a:srgbClr val="FF4757"/>
                </a:solidFill>
                <a:latin typeface="Calibri"/>
              </a:rPr>
              <a:t>▸  </a:t>
            </a:r>
            <a:r>
              <a:rPr sz="1600">
                <a:solidFill>
                  <a:srgbClr val="E8E8E8"/>
                </a:solidFill>
                <a:latin typeface="Calibri"/>
              </a:rPr>
              <a:t>Human traders cannot process vast datasets in real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20"/>
              </a:lnSpc>
              <a:spcAft>
                <a:spcPts val="800"/>
              </a:spcAft>
            </a:pPr>
            <a:r>
              <a:rPr sz="1600" b="1">
                <a:solidFill>
                  <a:srgbClr val="00FF88"/>
                </a:solidFill>
                <a:latin typeface="Calibri"/>
              </a:rPr>
              <a:t>▸  </a:t>
            </a:r>
            <a:r>
              <a:rPr sz="1600">
                <a:solidFill>
                  <a:srgbClr val="E8E8E8"/>
                </a:solidFill>
                <a:latin typeface="Calibri"/>
              </a:rPr>
              <a:t>AI can identify hidden patterns in historical price data</a:t>
            </a:r>
          </a:p>
          <a:p>
            <a:pPr>
              <a:lnSpc>
                <a:spcPts val="2720"/>
              </a:lnSpc>
              <a:spcAft>
                <a:spcPts val="800"/>
              </a:spcAft>
            </a:pPr>
            <a:r>
              <a:rPr sz="1600" b="1">
                <a:solidFill>
                  <a:srgbClr val="00FF88"/>
                </a:solidFill>
                <a:latin typeface="Calibri"/>
              </a:rPr>
              <a:t>▸  </a:t>
            </a:r>
            <a:r>
              <a:rPr sz="1600">
                <a:solidFill>
                  <a:srgbClr val="E8E8E8"/>
                </a:solidFill>
                <a:latin typeface="Calibri"/>
              </a:rPr>
              <a:t>Machine Learning models adapt to changing market dynamics</a:t>
            </a:r>
          </a:p>
          <a:p>
            <a:pPr>
              <a:lnSpc>
                <a:spcPts val="2720"/>
              </a:lnSpc>
              <a:spcAft>
                <a:spcPts val="800"/>
              </a:spcAft>
            </a:pPr>
            <a:r>
              <a:rPr sz="1600" b="1">
                <a:solidFill>
                  <a:srgbClr val="00FF88"/>
                </a:solidFill>
                <a:latin typeface="Calibri"/>
              </a:rPr>
              <a:t>▸  </a:t>
            </a:r>
            <a:r>
              <a:rPr sz="1600">
                <a:solidFill>
                  <a:srgbClr val="E8E8E8"/>
                </a:solidFill>
                <a:latin typeface="Calibri"/>
              </a:rPr>
              <a:t>Algorithms process thousands of data points in milliseconds</a:t>
            </a:r>
          </a:p>
          <a:p>
            <a:pPr>
              <a:lnSpc>
                <a:spcPts val="2720"/>
              </a:lnSpc>
              <a:spcAft>
                <a:spcPts val="800"/>
              </a:spcAft>
            </a:pPr>
            <a:r>
              <a:rPr sz="1600" b="1">
                <a:solidFill>
                  <a:srgbClr val="00FF88"/>
                </a:solidFill>
                <a:latin typeface="Calibri"/>
              </a:rPr>
              <a:t>▸  </a:t>
            </a:r>
            <a:r>
              <a:rPr sz="1600">
                <a:solidFill>
                  <a:srgbClr val="E8E8E8"/>
                </a:solidFill>
                <a:latin typeface="Calibri"/>
              </a:rPr>
              <a:t>Quantitative trading firms already use AI for 70%+ of 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6775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4757"/>
                </a:solidFill>
                <a:latin typeface="Calibri"/>
              </a:defRPr>
            </a:pPr>
            <a:r>
              <a:rPr dirty="0"/>
              <a:t>❌  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9695" y="1503353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FF88"/>
                </a:solidFill>
                <a:latin typeface="Calibri"/>
              </a:defRPr>
            </a:pPr>
            <a:r>
              <a:rPr dirty="0"/>
              <a:t>✅  THE AI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00000"/>
            <a:ext cx="100584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  <a:latin typeface="Calibri"/>
              </a:rPr>
              <a:t>This project focuses on solving core stock analysis problems using efficient data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Key Financial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Understanding the building blocks of stock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130567" cy="411480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947687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8562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t>Stock Span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185624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Number of consecutive prior trading</a:t>
            </a:r>
            <a:br/>
            <a:r>
              <a:t>days where the stock price was</a:t>
            </a:r>
            <a:br/>
            <a:r>
              <a:t>less than or equal to today's price.</a:t>
            </a:r>
            <a:br/>
            <a:r>
              <a:t>Key indicator of bullish momentum.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9207" y="1828800"/>
            <a:ext cx="2130567" cy="411480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30647" y="1965960"/>
            <a:ext cx="1947687" cy="5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6367" y="2194560"/>
            <a:ext cx="18562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FF88"/>
                </a:solidFill>
                <a:latin typeface="Calibri"/>
              </a:defRPr>
            </a:pPr>
            <a:r>
              <a:rPr sz="1600" b="1">
                <a:solidFill>
                  <a:srgbClr val="00FF88"/>
                </a:solidFill>
                <a:latin typeface="Calibri"/>
              </a:rPr>
              <a:t>Maximum Profit
(Buy-Sell Problem)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6367" y="3108960"/>
            <a:ext cx="185624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Maximum profit achievable from a</a:t>
            </a:r>
            <a:br/>
            <a:r>
              <a:t>single buy-sell transaction over</a:t>
            </a:r>
            <a:br/>
            <a:r>
              <a:t>a historical window. Tracks the</a:t>
            </a:r>
            <a:br/>
            <a:r>
              <a:t>optimal entry and exit 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74" y="1828800"/>
            <a:ext cx="2130567" cy="411480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21214" y="1965960"/>
            <a:ext cx="1947687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66934" y="2194560"/>
            <a:ext cx="18562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Running</a:t>
            </a:r>
            <a:br/>
            <a:r>
              <a:t>Max/Min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34" y="3108960"/>
            <a:ext cx="185624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The highest and lowest prices</a:t>
            </a:r>
            <a:br/>
            <a:r>
              <a:t>observed across the entire trading</a:t>
            </a:r>
            <a:br/>
            <a:r>
              <a:t>history. Defines the volatility</a:t>
            </a:r>
            <a:br/>
            <a:r>
              <a:t>range and support/resistance levels.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0341" y="1828800"/>
            <a:ext cx="2130567" cy="411480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11781" y="1965960"/>
            <a:ext cx="1947687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7501" y="2194560"/>
            <a:ext cx="18562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Top-K</a:t>
            </a:r>
            <a:br/>
            <a:r>
              <a:t>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7501" y="3108960"/>
            <a:ext cx="185624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The K highest stock prices seen</a:t>
            </a:r>
            <a:br/>
            <a:r>
              <a:t>so far, maintained using a min-heap.</a:t>
            </a:r>
            <a:br/>
            <a:r>
              <a:t>Helps identify price ceilings and</a:t>
            </a:r>
            <a:br/>
            <a:r>
              <a:t>resistance zones in trading.</a:t>
            </a:r>
          </a:p>
        </p:txBody>
      </p:sp>
      <p:sp>
        <p:nvSpPr>
          <p:cNvPr id="30" name="Rounded Rectangle 21"/>
          <p:cNvSpPr/>
          <p:nvPr/>
        </p:nvSpPr>
        <p:spPr>
          <a:xfrm>
            <a:off x="9710908" y="1828800"/>
            <a:ext cx="2130567" cy="411480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2"/>
          <p:cNvSpPr/>
          <p:nvPr/>
        </p:nvSpPr>
        <p:spPr>
          <a:xfrm>
            <a:off x="9802348" y="1965960"/>
            <a:ext cx="1947687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23"/>
          <p:cNvSpPr txBox="1"/>
          <p:nvPr/>
        </p:nvSpPr>
        <p:spPr>
          <a:xfrm>
            <a:off x="9848068" y="2194560"/>
            <a:ext cx="185624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8C00"/>
                </a:solidFill>
                <a:latin typeface="Calibri"/>
              </a:defRPr>
            </a:pPr>
            <a:r>
              <a:t>Next Greater
Element</a:t>
            </a:r>
          </a:p>
        </p:txBody>
      </p:sp>
      <p:sp>
        <p:nvSpPr>
          <p:cNvPr id="33" name="TextBox 24"/>
          <p:cNvSpPr txBox="1"/>
          <p:nvPr/>
        </p:nvSpPr>
        <p:spPr>
          <a:xfrm>
            <a:off x="9848068" y="3108960"/>
            <a:ext cx="185624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Finds the next higher price for each day. Detects breakout opportunities. Implemented using stack. O(n)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AAPL Stock Price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2+ years of Apple Inc. daily closing prices</a:t>
            </a:r>
          </a:p>
        </p:txBody>
      </p:sp>
      <p:pic>
        <p:nvPicPr>
          <p:cNvPr id="6" name="Picture 5" descr="stock_pric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2471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Project Architecture &amp;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End-to-end flow from raw data to predictions</a:t>
            </a:r>
          </a:p>
        </p:txBody>
      </p:sp>
      <p:pic>
        <p:nvPicPr>
          <p:cNvPr id="6" name="Picture 5" descr="pipeline_diagram_17763531015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91" y="1783080"/>
            <a:ext cx="5305665" cy="48635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t>1. Data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Download AAPL stock data from</a:t>
            </a:r>
            <a:br/>
            <a:r>
              <a:t>Yahoo Finance API (yfinance)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rPr sz="1600" b="1">
                <a:solidFill>
                  <a:srgbClr val="00D4FF"/>
                </a:solidFill>
                <a:latin typeface="Calibri"/>
              </a:rPr>
              <a:t>2. Feature Engineering (C++ DSA Engine)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971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sz="1300" b="0">
                <a:solidFill>
                  <a:srgbClr val="CCCCCC"/>
                </a:solidFill>
                <a:latin typeface="Calibri"/>
              </a:rPr>
              <a:t>• Stock Span (Stack)
• Next Greater Element (Stack)
• Maximum Profit (Greedy)
• Top-K Prices (Heap)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57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t>3. ML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977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Train 3 models: Linear Regression,</a:t>
            </a:r>
            <a:br/>
            <a:r>
              <a:t>Random Forest, 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t>4.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983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Compare models using MAE metric</a:t>
            </a:r>
            <a:br/>
            <a:r>
              <a:t>and time-based train/test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D4FF"/>
                </a:solidFill>
                <a:latin typeface="Calibri"/>
              </a:defRPr>
            </a:pPr>
            <a:r>
              <a:t>5.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989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Streamlit dashboard for interactive</a:t>
            </a:r>
            <a:br/>
            <a:r>
              <a:t>visualization and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Data Structures Powering Financial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How fundamental algorithms drive feature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457200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6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D4FF"/>
                </a:solidFill>
                <a:latin typeface="Calibri"/>
              </a:defRPr>
            </a:pPr>
            <a:r>
              <a:rPr sz="1800" b="1">
                <a:solidFill>
                  <a:srgbClr val="00D4FF"/>
                </a:solidFill>
                <a:latin typeface="Calibri"/>
              </a:rPr>
              <a:t>Stack (Core Component)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rPr sz="1300" b="0">
                <a:solidFill>
                  <a:srgbClr val="999999"/>
                </a:solidFill>
                <a:latin typeface="Calibri"/>
              </a:rPr>
              <a:t>Stock Span &amp; Next
Greater Element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Stock Span Problem</a:t>
            </a:r>
            <a:br/>
            <a:r>
              <a:t>• Next Greater Element Problem</a:t>
            </a:r>
            <a:br/>
            <a:r>
              <a:t>• O(n) amortized complexity</a:t>
            </a:r>
            <a:br/>
            <a:r>
              <a:t>• Monotonic stack implementation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566160" cy="457200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828800"/>
            <a:ext cx="3566160" cy="635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FF88"/>
                </a:solidFill>
                <a:latin typeface="Calibri"/>
              </a:defRPr>
            </a:pPr>
            <a:r>
              <a:t>Min-Heap (Priority Queue)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Top-K Prices &amp;</a:t>
            </a:r>
            <a:br/>
            <a:r>
              <a:t>Running Extremes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Maintains top K prices efficiently</a:t>
            </a:r>
            <a:br/>
            <a:r>
              <a:t>• O(log K) per insertion</a:t>
            </a:r>
            <a:br/>
            <a:r>
              <a:t>• Tracks all-time max/min prices</a:t>
            </a:r>
            <a:br/>
            <a:r>
              <a:t>• Constant-time lookups for extremes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566160" cy="457200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3566160" cy="635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Greedy / Kadane's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Maximum Profit</a:t>
            </a:r>
            <a:br/>
            <a:r>
              <a:t>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Best buy-sell profit calculation</a:t>
            </a:r>
            <a:br/>
            <a:r>
              <a:t>• Single pass O(n) algorithm</a:t>
            </a:r>
            <a:br/>
            <a:r>
              <a:t>• Tracks minimum buy price seen</a:t>
            </a:r>
            <a:br/>
            <a:r>
              <a:t>• Updates max profit dynamically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Engineered Financial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Derived features that feed into ML models</a:t>
            </a:r>
          </a:p>
        </p:txBody>
      </p:sp>
      <p:pic>
        <p:nvPicPr>
          <p:cNvPr id="6" name="Picture 5" descr="feature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0"/>
            <a:ext cx="11430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AI/ML Models for Stock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Three supervised learning models trained on financial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457200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1188720" cy="3200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029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FF88"/>
                </a:solidFill>
                <a:latin typeface="Calibri"/>
              </a:defRPr>
            </a:pPr>
            <a: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Simple, interpretable model</a:t>
            </a:r>
            <a:br/>
            <a:r>
              <a:t>• Learns linear relationship between</a:t>
            </a:r>
            <a:br/>
            <a:r>
              <a:t>  features and next-day price</a:t>
            </a:r>
            <a:br/>
            <a:r>
              <a:t>• Features: price, span, max, min, profit</a:t>
            </a:r>
            <a:br/>
            <a:r>
              <a:t>• Baseline model for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3566160" cy="457200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2011680"/>
            <a:ext cx="118872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029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8C00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089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Ensemble of 100 decision trees</a:t>
            </a:r>
            <a:br/>
            <a:r>
              <a:t>• Handles non-linear relationships</a:t>
            </a:r>
            <a:br/>
            <a:r>
              <a:t>• Uses lagged features to avoid leakage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566160" cy="457200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75320" y="2011680"/>
            <a:ext cx="1188720" cy="320040"/>
          </a:xfrm>
          <a:prstGeom prst="round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0299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A1628"/>
                </a:solidFill>
                <a:latin typeface="Calibri"/>
              </a:defRPr>
            </a:pPr>
            <a:r>
              <a:t>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4757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Gradient-boosted tree ensemble</a:t>
            </a:r>
            <a:br/>
            <a:r>
              <a:t>• Learning rate: 0.1, Max depth: 5</a:t>
            </a:r>
            <a:br/>
            <a:r>
              <a:t>• Regularized to prevent overfitting</a:t>
            </a:r>
            <a:br/>
            <a:r>
              <a:t>• Same feature set as Random Forest</a:t>
            </a:r>
            <a:br/>
            <a:r>
              <a:t>• Industry-standard for tabular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Predicted vs Actual — Visual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How well each model tracks real stock prices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0"/>
            <a:ext cx="116128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Model Performance — MAE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Mean Absolute Error (lower is better)</a:t>
            </a:r>
          </a:p>
        </p:txBody>
      </p:sp>
      <p:pic>
        <p:nvPicPr>
          <p:cNvPr id="6" name="Picture 5" descr="ma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📊  RESULTS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Linear Regression MAE: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FF88"/>
                </a:solidFill>
                <a:latin typeface="Calibri"/>
              </a:defRPr>
            </a:pPr>
            <a:r>
              <a:t>2.72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Random Forest MAE: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8C00"/>
                </a:solidFill>
                <a:latin typeface="Calibri"/>
              </a:defRPr>
            </a:pPr>
            <a:r>
              <a:t>1.19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XGBoost MAE: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4757"/>
                </a:solidFill>
                <a:latin typeface="Calibri"/>
              </a:defRPr>
            </a:pPr>
            <a:r>
              <a:t>1.78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846320"/>
            <a:ext cx="4114800" cy="1097280"/>
          </a:xfrm>
          <a:prstGeom prst="roundRect">
            <a:avLst/>
          </a:prstGeom>
          <a:solidFill>
            <a:srgbClr val="12223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49377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🏆  BEST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349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E8E8E8"/>
                </a:solidFill>
                <a:latin typeface="Calibri"/>
              </a:defRPr>
            </a:pPr>
            <a:r>
              <a:t>Random Forest — MAE 1.19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00000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700"/>
                </a:solidFill>
                <a:latin typeface="Calibri"/>
              </a:rPr>
              <a:t>Random Forest achieves lowest MAE (1.19), demonstrating effectiveness of non-linear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Interactive Streamlit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Real-time exploration of predictions and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📈  Price Dashboard — Historical stock price trends with time-series visualization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📊  Model Comparison — Side-by-side actual vs predicted plots for all 3 models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📉  Performance Metrics — Live MAE computation and automatic best-model selection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📂  Sidebar Navigation — Clean, intuitive page switching between all views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🔄  Auto-Refresh Data — Loads latest prediction results from CSV on each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2011680" cy="41148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D4FF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669280"/>
            <a:ext cx="2011680" cy="41148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FF88"/>
                </a:solidFill>
                <a:latin typeface="Calibri"/>
              </a:defRPr>
            </a:pPr>
            <a:r>
              <a:t>Matplotlib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5669280"/>
            <a:ext cx="2011680" cy="41148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8C00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5669280"/>
            <a:ext cx="2011680" cy="411480"/>
          </a:xfrm>
          <a:prstGeom prst="roundRect">
            <a:avLst/>
          </a:prstGeom>
          <a:solidFill>
            <a:srgbClr val="12223A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4757"/>
                </a:solidFill>
                <a:latin typeface="Calibri"/>
              </a:defRPr>
            </a:pPr>
            <a:r>
              <a:t>scikit-learn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Key Findings &amp;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What we learned from applying AI to stock price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750"/>
              </a:spcAft>
            </a:pPr>
            <a:r>
              <a:rPr sz="1500" b="1">
                <a:solidFill>
                  <a:srgbClr val="FFD700"/>
                </a:solidFill>
                <a:latin typeface="Calibri"/>
              </a:rPr>
              <a:t>▸  </a:t>
            </a:r>
            <a:r>
              <a:rPr sz="1500">
                <a:solidFill>
                  <a:srgbClr val="E8E8E8"/>
                </a:solidFill>
                <a:latin typeface="Calibri"/>
              </a:rPr>
              <a:t>Random Forest outperforms other models with MAE of 1.19 — demonstrating that ensemble methods
capture non-linear market dynamics better than simple linear approaches</a:t>
            </a:r>
          </a:p>
          <a:p>
            <a:pPr>
              <a:lnSpc>
                <a:spcPts val="2400"/>
              </a:lnSpc>
              <a:spcAft>
                <a:spcPts val="750"/>
              </a:spcAft>
            </a:pPr>
            <a:r>
              <a:rPr sz="1500" b="1">
                <a:solidFill>
                  <a:srgbClr val="FFD700"/>
                </a:solidFill>
                <a:latin typeface="Calibri"/>
              </a:rPr>
              <a:t>▸  </a:t>
            </a:r>
            <a:r>
              <a:rPr sz="1500">
                <a:solidFill>
                  <a:srgbClr val="E8E8E8"/>
                </a:solidFill>
                <a:latin typeface="Calibri"/>
              </a:rPr>
              <a:t>Engineered features (span, max/min price, profit) significantly improve prediction accuracy
over using raw price data alone — domain knowledge matters in finance AI</a:t>
            </a:r>
          </a:p>
          <a:p>
            <a:pPr>
              <a:lnSpc>
                <a:spcPts val="2400"/>
              </a:lnSpc>
              <a:spcAft>
                <a:spcPts val="750"/>
              </a:spcAft>
            </a:pPr>
            <a:r>
              <a:rPr sz="1500" b="1">
                <a:solidFill>
                  <a:srgbClr val="FFD700"/>
                </a:solidFill>
                <a:latin typeface="Calibri"/>
              </a:rPr>
              <a:t>▸  </a:t>
            </a:r>
            <a:r>
              <a:rPr sz="1500">
                <a:solidFill>
                  <a:srgbClr val="E8E8E8"/>
                </a:solidFill>
                <a:latin typeface="Calibri"/>
              </a:rPr>
              <a:t>Time-based train/test split prevents data leakage — a critical requirement for financial
forecasting where temporal order must be preserved</a:t>
            </a:r>
          </a:p>
          <a:p>
            <a:pPr>
              <a:lnSpc>
                <a:spcPts val="2400"/>
              </a:lnSpc>
              <a:spcAft>
                <a:spcPts val="750"/>
              </a:spcAft>
            </a:pPr>
            <a:r>
              <a:rPr sz="1500" b="1">
                <a:solidFill>
                  <a:srgbClr val="FFD700"/>
                </a:solidFill>
                <a:latin typeface="Calibri"/>
              </a:rPr>
              <a:t>▸  </a:t>
            </a:r>
            <a:r>
              <a:rPr sz="1500">
                <a:solidFill>
                  <a:srgbClr val="E8E8E8"/>
                </a:solidFill>
                <a:latin typeface="Calibri"/>
              </a:rPr>
              <a:t>C++ feature engine processes data efficiently — DSA-optimized algorithms (Stack O(n), Heap O(log K))
enable real-time feature computation at scale</a:t>
            </a:r>
          </a:p>
          <a:p>
            <a:pPr>
              <a:lnSpc>
                <a:spcPts val="2400"/>
              </a:lnSpc>
              <a:spcAft>
                <a:spcPts val="750"/>
              </a:spcAft>
            </a:pPr>
            <a:r>
              <a:rPr sz="1500" b="1">
                <a:solidFill>
                  <a:srgbClr val="FFD700"/>
                </a:solidFill>
                <a:latin typeface="Calibri"/>
              </a:rPr>
              <a:t>▸  </a:t>
            </a:r>
            <a:r>
              <a:rPr sz="1500">
                <a:solidFill>
                  <a:srgbClr val="E8E8E8"/>
                </a:solidFill>
                <a:latin typeface="Calibri"/>
              </a:rPr>
              <a:t>Stack-based algorithms efficiently solve span and next greater element problems in linear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Languages, libraries, and tools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201168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D4FF"/>
                </a:solidFill>
                <a:latin typeface="Calibri"/>
              </a:defRPr>
            </a:pPr>
            <a: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30175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sz="1300" b="0">
                <a:solidFill>
                  <a:srgbClr val="CCCCCC"/>
                </a:solidFill>
                <a:latin typeface="Calibri"/>
              </a:rPr>
              <a:t>Core DSA engine implementing:
• Stack (Span, NGE)
• Heap (Top-K prices)
• Greedy (Max Profit)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201168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FF88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514600"/>
            <a:ext cx="301752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Data acquisition (yfinance),</a:t>
            </a:r>
            <a:br/>
            <a:r>
              <a:t>ML training, evaluation,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66160" cy="201168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8C00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514600"/>
            <a:ext cx="3017520" cy="25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Linear Regression &amp;</a:t>
            </a:r>
            <a:br/>
            <a:r>
              <a:t>Random Forest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3566160" cy="201168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4757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301752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Gradient-boosted decision</a:t>
            </a:r>
            <a:br/>
            <a:r>
              <a:t>tree regressor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114800"/>
            <a:ext cx="3566160" cy="201168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4A9EFF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800600"/>
            <a:ext cx="3017520" cy="2540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5029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Interactive web-based</a:t>
            </a:r>
            <a:br/>
            <a:r>
              <a:t>analysis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114800"/>
            <a:ext cx="3566160" cy="2011680"/>
          </a:xfrm>
          <a:prstGeom prst="roundRect">
            <a:avLst/>
          </a:prstGeom>
          <a:solidFill>
            <a:srgbClr val="12223A"/>
          </a:solidFill>
          <a:ln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Matplotlib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800600"/>
            <a:ext cx="301752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5029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Data visualization and</a:t>
            </a:r>
            <a:br/>
            <a:r>
              <a:t>chart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background_1776353084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8E8E8"/>
                </a:solidFill>
                <a:latin typeface="Calibri"/>
              </a:defRPr>
            </a:pPr>
            <a:r>
              <a:t>Future Scope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Where this project can go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Integrate real-time sentiment analysis from financial news and social media APIs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Add LSTM / Transformer-based deep learning models for sequential pattern recognition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Expand to multi-stock portfolio analysis with correlation-based risk assessment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Implement real-time prediction pipeline with streaming data ingestion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Add technical indicators (RSI, MACD, Bollinger Bands) as additional features</a:t>
            </a:r>
          </a:p>
          <a:p>
            <a:pPr>
              <a:lnSpc>
                <a:spcPts val="3060"/>
              </a:lnSpc>
              <a:spcAft>
                <a:spcPts val="900"/>
              </a:spcAft>
            </a:pPr>
            <a:r>
              <a:rPr sz="1800" b="1">
                <a:solidFill>
                  <a:srgbClr val="00D4FF"/>
                </a:solidFill>
                <a:latin typeface="Calibri"/>
              </a:rPr>
              <a:t>▸  </a:t>
            </a:r>
            <a:r>
              <a:rPr sz="1800">
                <a:solidFill>
                  <a:srgbClr val="E8E8E8"/>
                </a:solidFill>
                <a:latin typeface="Calibri"/>
              </a:rPr>
              <a:t>Deploy as a cloud-hosted web application with user authentication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_background_1776353121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Aft>
                <a:spcPts val="0"/>
              </a:spcAft>
              <a:defRPr sz="6000" b="1">
                <a:solidFill>
                  <a:srgbClr val="FFD700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4232" y="3931920"/>
            <a:ext cx="10058400" cy="42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E8E8E8"/>
                </a:solidFill>
                <a:latin typeface="Calibri"/>
              </a:defRPr>
            </a:pPr>
            <a:r>
              <a:rPr dirty="0"/>
              <a:t>Stock Price Analyzer</a:t>
            </a:r>
            <a:r>
              <a:rPr lang="en-IN" dirty="0"/>
              <a:t> using heaps and stacks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1131</Words>
  <Application>Microsoft Office PowerPoint</Application>
  <PresentationFormat>Widescreen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Dhairya Joshi</cp:lastModifiedBy>
  <cp:revision>7</cp:revision>
  <dcterms:created xsi:type="dcterms:W3CDTF">2013-01-27T09:14:16Z</dcterms:created>
  <dcterms:modified xsi:type="dcterms:W3CDTF">2026-04-17T15:06:28Z</dcterms:modified>
  <cp:category/>
</cp:coreProperties>
</file>